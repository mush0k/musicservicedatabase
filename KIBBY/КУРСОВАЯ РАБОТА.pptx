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1" r:id="rId5"/>
    <p:sldId id="262" r:id="rId6"/>
    <p:sldId id="263" r:id="rId7"/>
    <p:sldId id="266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AE29C-7038-48EB-9ECD-A43ED68AAFC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B07D8-DB30-4545-8781-8F10E9BF52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34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7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69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05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24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88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39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9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16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35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78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01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92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509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50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79F04-90A8-44A2-8199-DC0BAA66484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66B5F-B34C-4E3D-9868-BEF484D27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84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2751429"/>
            <a:ext cx="9144000" cy="781396"/>
          </a:xfrm>
        </p:spPr>
        <p:txBody>
          <a:bodyPr>
            <a:noAutofit/>
          </a:bodyPr>
          <a:lstStyle/>
          <a:p>
            <a:r>
              <a:rPr lang="ru-RU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3998" y="3459996"/>
            <a:ext cx="9144000" cy="1113271"/>
          </a:xfrm>
        </p:spPr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 «Основы проектирования баз данных»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«Проектирование и разработка базы данных и логики обработки данных музыкальной библиотеки (сервиса)»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382682" y="642616"/>
            <a:ext cx="94266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«УДМУРТСКИЙ ГОСУДАРСТВЕННЫЙ УНИВЕРСИТЕТ»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ФИЛИАЛ ФЕДЕРАЛЬНОГО ГОСУДАРСТВЕННОГО БЮДЖЕТНОГО ОБРАЗОВАТЕЛЬНОГО УЧРЕЖДЕНИЯ ВЫСШЕГО ОБРАЗОВАНИЯ «УДМУРТСКИЙ ГОСУДАРСТВЕННЫЙ УНИВЕРСИТЕТ» В ГОРОДЕ ВОТКИНСКЕ (ФИЛИАЛ ФГБОУ ВО «УДГУ» В Г. ВОТКИНСКЕ)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и инженерных технологий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«Информационные системы и программирование»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8735" y="4740157"/>
            <a:ext cx="33915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Выполнил:</a:t>
            </a:r>
          </a:p>
          <a:p>
            <a:r>
              <a:rPr lang="ru-RU" dirty="0"/>
              <a:t>студент гр. ИСиП-03</a:t>
            </a:r>
            <a:r>
              <a:rPr lang="en-US" dirty="0"/>
              <a:t>-</a:t>
            </a:r>
            <a:r>
              <a:rPr lang="ru-RU" dirty="0"/>
              <a:t>2</a:t>
            </a:r>
          </a:p>
          <a:p>
            <a:r>
              <a:rPr lang="ru-RU" dirty="0"/>
              <a:t>Оленева А</a:t>
            </a:r>
            <a:r>
              <a:rPr lang="en-US" dirty="0"/>
              <a:t>. </a:t>
            </a:r>
            <a:r>
              <a:rPr lang="ru-RU" dirty="0"/>
              <a:t>В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Проверил:</a:t>
            </a:r>
          </a:p>
          <a:p>
            <a:r>
              <a:rPr lang="ru-RU" dirty="0"/>
              <a:t>преподаватель</a:t>
            </a:r>
          </a:p>
          <a:p>
            <a:r>
              <a:rPr lang="ru-RU" dirty="0"/>
              <a:t>Ощепкова О</a:t>
            </a:r>
            <a:r>
              <a:rPr lang="en-US" dirty="0"/>
              <a:t>.</a:t>
            </a:r>
            <a:r>
              <a:rPr lang="ru-RU" dirty="0"/>
              <a:t>П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7409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072" y="109993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ВВЕДЕНИЕ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5552" y="1559000"/>
            <a:ext cx="823686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АКТУАЛЬНОСТЬ И ЦЕЛИ ПРОЕКТА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25552" y="2673960"/>
            <a:ext cx="6448544" cy="313182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5072" y="2673960"/>
            <a:ext cx="121920" cy="3131820"/>
          </a:xfrm>
          <a:prstGeom prst="roundRect">
            <a:avLst>
              <a:gd name="adj" fmla="val 74638"/>
            </a:avLst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64047" y="2921014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АКТУАЛЬНОСТЬ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4047" y="3478465"/>
            <a:ext cx="5862995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Музыкальные </a:t>
            </a:r>
            <a:r>
              <a:rPr lang="en-US" sz="1700" dirty="0" err="1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сервисы</a:t>
            </a: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 - неотъемлемая часть жизни. Эффективная база данных обеспечивает быстрый доступ, надежное хранение и целостность информации. 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/>
          <p:cNvSpPr/>
          <p:nvPr/>
        </p:nvSpPr>
        <p:spPr>
          <a:xfrm>
            <a:off x="7160191" y="2673960"/>
            <a:ext cx="121920" cy="3131820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468206" y="2921013"/>
            <a:ext cx="2481042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ЦЕЛЬ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68206" y="3348567"/>
            <a:ext cx="4252277" cy="221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Разработка реляционной БД для музыкального стримингового сервиса. Она должна хранить и управлять контентом, исполнителями, пользователями, поддерживать целостность данных и эффективные запросы.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48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43" y="62271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ОСНОВНАЯ ЧАСТЬ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43" y="880428"/>
            <a:ext cx="986289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ОПРЕДЕЛЕНИЕ ПРЕДМЕТНОЙ ОБЛАСТИ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43" y="1672729"/>
            <a:ext cx="9742078" cy="1372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Музыкальный сервис предназначен для хранения и организации треков, альбомов, исполнителей и плейлистов. Пользователи ищут музыку, слушают, добавляют в плейлисты и оценивают. БД автоматизирует эти процессы, хранит контент, управляет связями, обеспечивает поиск и анализирует активность для рекомендаций.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43" y="3201908"/>
            <a:ext cx="4745024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4037" y="340766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Spotify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9306" y="3774480"/>
            <a:ext cx="410376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Система плейлистов, рекомендации. Влияние: система оценок и плейлистов.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3867" y="3201908"/>
            <a:ext cx="4902200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933" y="3407669"/>
            <a:ext cx="20658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Яндекс.Музыка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20933" y="3737078"/>
            <a:ext cx="35443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Классификация по жанрам. Влияние: связь треков и жанров (M:N).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9843" y="4928501"/>
            <a:ext cx="4745024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306" y="514375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Apple Music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4037" y="5618639"/>
            <a:ext cx="452082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Структура метаданных. Влияние: детализация информации об исполнителях.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83867" y="4942780"/>
            <a:ext cx="4902200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933" y="51574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VK Музыка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20933" y="5626615"/>
            <a:ext cx="43688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Популярность и рейтинги. Влияние: система оценок и аналитические запросы.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49" y="1233735"/>
            <a:ext cx="6722234" cy="54434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86803" y="656844"/>
            <a:ext cx="11635924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US" sz="240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МОДЕЛИРОВАНИЕ ПРЕДМЕТНОЙ ОБЛАСТИ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3936" y="1557463"/>
            <a:ext cx="187867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18 Сущностей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363936" y="1807591"/>
            <a:ext cx="1799197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Пользователи, артисты, альбомы, треки, жанры, плейлисты, участники, страны, типы подписок и ролей, а также связи между ними.</a:t>
            </a:r>
            <a:endParaRPr lang="en-US" sz="1417" dirty="0"/>
          </a:p>
        </p:txBody>
      </p:sp>
      <p:sp>
        <p:nvSpPr>
          <p:cNvPr id="7" name="Text 4"/>
          <p:cNvSpPr/>
          <p:nvPr/>
        </p:nvSpPr>
        <p:spPr>
          <a:xfrm>
            <a:off x="8675588" y="2008560"/>
            <a:ext cx="306734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Проектирование в MySQL</a:t>
            </a:r>
            <a:endParaRPr lang="en-US" sz="1833" dirty="0"/>
          </a:p>
        </p:txBody>
      </p:sp>
      <p:sp>
        <p:nvSpPr>
          <p:cNvPr id="8" name="Text 5"/>
          <p:cNvSpPr/>
          <p:nvPr/>
        </p:nvSpPr>
        <p:spPr>
          <a:xfrm>
            <a:off x="8675588" y="2324893"/>
            <a:ext cx="248801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Использование MySQL Workbench для создания ER-диаграммы и экспорта SQL-скрипта. Кодировка utf8_bin для кириллицы.</a:t>
            </a:r>
            <a:endParaRPr lang="en-US" sz="1417" dirty="0"/>
          </a:p>
        </p:txBody>
      </p:sp>
      <p:sp>
        <p:nvSpPr>
          <p:cNvPr id="11" name="Text 7"/>
          <p:cNvSpPr/>
          <p:nvPr/>
        </p:nvSpPr>
        <p:spPr>
          <a:xfrm>
            <a:off x="8675588" y="4864319"/>
            <a:ext cx="24880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Тестовое заполнение</a:t>
            </a:r>
            <a:endParaRPr lang="en-US" sz="1833" dirty="0"/>
          </a:p>
        </p:txBody>
      </p:sp>
      <p:sp>
        <p:nvSpPr>
          <p:cNvPr id="12" name="Text 8"/>
          <p:cNvSpPr/>
          <p:nvPr/>
        </p:nvSpPr>
        <p:spPr>
          <a:xfrm>
            <a:off x="8699036" y="5161182"/>
            <a:ext cx="3280966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Более 300 записей (артисты, альбомы, треки, пользователи) импортированы из JSON для проверки работоспособности схемы и связей.</a:t>
            </a:r>
            <a:endParaRPr lang="en-US" sz="1417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631924" y="394294"/>
            <a:ext cx="2274341" cy="415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ОСНОВНАЯ ЧАСТЬ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05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393" y="742730"/>
            <a:ext cx="3364575" cy="4278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00"/>
              </a:lnSpc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ЧАСТЬ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8393" y="1170539"/>
            <a:ext cx="5696046" cy="6950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666"/>
              </a:lnSpc>
            </a:pPr>
            <a:r>
              <a:rPr lang="ru-RU" sz="4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ЗАПРОСЫ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28393" y="2293410"/>
            <a:ext cx="363261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 треки с возрастом 16+ и их альбомы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t.track_title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t.duration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a.album_title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t.restrict_age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track 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album a ON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t.album_id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a.album_id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t.restrict_age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16;</a:t>
            </a:r>
            <a:endParaRPr kumimoji="0" lang="ru-RU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28393" y="1765930"/>
            <a:ext cx="5335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ВЫВОД СПИСКА ТРЕКОВ 16+ И ИХ АЛЬБОМОВ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2D0C1A-2DFC-4049-89D5-3C608F22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024" y="2293410"/>
            <a:ext cx="6324473" cy="312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5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447810" y="742730"/>
            <a:ext cx="3364575" cy="4278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00"/>
              </a:lnSpc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ЧАСТЬ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8393" y="1170539"/>
            <a:ext cx="11383992" cy="695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4666"/>
              </a:lnSpc>
            </a:pPr>
            <a:r>
              <a:rPr lang="ru-RU" sz="4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ПРОДВИНУТЫЕ ЗАПРОСЫ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665019" y="66459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12AA403-5620-4343-BE18-AE98B00B7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385" y="2101243"/>
            <a:ext cx="524874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Вывести детальную информацию о ролях участников в треках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t.track_title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m.stage_name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GROUP_CONCAT</a:t>
            </a:r>
            <a:r>
              <a:rPr lang="ru-RU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(DISTINCT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ct.credit_name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roles,    COUNT(DISTINCT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ct.credit_id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role_count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track t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track_has_credits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t.track_id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thc.track_id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member m ON 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thc.member_id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m.member_id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credit_type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thc.credit_id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ct.credit_id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t.track_id,m.member_id</a:t>
            </a:r>
            <a:endParaRPr lang="ru-RU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role_count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  <a:endParaRPr kumimoji="0" lang="ru-RU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B29E83-6D3D-45A5-95E2-8ED239215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73" y="2052294"/>
            <a:ext cx="6101857" cy="38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4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24" y="1787624"/>
            <a:ext cx="11122272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US" sz="3708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З</a:t>
            </a:r>
            <a:r>
              <a:rPr lang="ru-RU" sz="44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АКЛЮЧЕНИЕ И ПЕРСПЕКТИВЫ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1924" y="2832794"/>
            <a:ext cx="264239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Основные достижения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631924" y="3310136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Комплексная структура (18 таблиц)</a:t>
            </a:r>
            <a:endParaRPr lang="en-US" sz="1417" dirty="0"/>
          </a:p>
        </p:txBody>
      </p:sp>
      <p:sp>
        <p:nvSpPr>
          <p:cNvPr id="5" name="Text 3"/>
          <p:cNvSpPr/>
          <p:nvPr/>
        </p:nvSpPr>
        <p:spPr>
          <a:xfrm>
            <a:off x="631924" y="3662164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Учет особенностей индустрии</a:t>
            </a:r>
            <a:endParaRPr lang="en-US" sz="1417" dirty="0"/>
          </a:p>
        </p:txBody>
      </p:sp>
      <p:sp>
        <p:nvSpPr>
          <p:cNvPr id="6" name="Text 4"/>
          <p:cNvSpPr/>
          <p:nvPr/>
        </p:nvSpPr>
        <p:spPr>
          <a:xfrm>
            <a:off x="631924" y="4014193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Нормализация и </a:t>
            </a:r>
            <a:r>
              <a:rPr lang="en-US" sz="1417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целостность</a:t>
            </a:r>
            <a:endParaRPr lang="en-US" sz="1417" dirty="0"/>
          </a:p>
        </p:txBody>
      </p:sp>
      <p:sp>
        <p:nvSpPr>
          <p:cNvPr id="7" name="Text 5"/>
          <p:cNvSpPr/>
          <p:nvPr/>
        </p:nvSpPr>
        <p:spPr>
          <a:xfrm>
            <a:off x="631924" y="4366220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Широкий спектр функциональных запросов</a:t>
            </a:r>
            <a:endParaRPr lang="en-US" sz="1417" dirty="0"/>
          </a:p>
        </p:txBody>
      </p:sp>
      <p:sp>
        <p:nvSpPr>
          <p:cNvPr id="8" name="Text 6"/>
          <p:cNvSpPr/>
          <p:nvPr/>
        </p:nvSpPr>
        <p:spPr>
          <a:xfrm>
            <a:off x="631924" y="4718248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Автоматизация операций</a:t>
            </a:r>
            <a:endParaRPr lang="en-US" sz="1417" dirty="0"/>
          </a:p>
        </p:txBody>
      </p:sp>
      <p:sp>
        <p:nvSpPr>
          <p:cNvPr id="9" name="Text 7"/>
          <p:cNvSpPr/>
          <p:nvPr/>
        </p:nvSpPr>
        <p:spPr>
          <a:xfrm>
            <a:off x="6322616" y="2832794"/>
            <a:ext cx="267563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Перспективы развития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6322616" y="3310136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Добавление истории прослушиваний</a:t>
            </a:r>
            <a:endParaRPr lang="en-US" sz="1417" dirty="0"/>
          </a:p>
        </p:txBody>
      </p:sp>
      <p:sp>
        <p:nvSpPr>
          <p:cNvPr id="11" name="Text 9"/>
          <p:cNvSpPr/>
          <p:nvPr/>
        </p:nvSpPr>
        <p:spPr>
          <a:xfrm>
            <a:off x="6322616" y="3662164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Полнотекстовый поиск</a:t>
            </a:r>
            <a:endParaRPr lang="en-US" sz="1417" dirty="0"/>
          </a:p>
        </p:txBody>
      </p:sp>
      <p:sp>
        <p:nvSpPr>
          <p:cNvPr id="12" name="Text 10"/>
          <p:cNvSpPr/>
          <p:nvPr/>
        </p:nvSpPr>
        <p:spPr>
          <a:xfrm>
            <a:off x="6322616" y="4014193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Автоматическое обновление рейтингов</a:t>
            </a:r>
            <a:endParaRPr lang="en-US" sz="1417" dirty="0"/>
          </a:p>
        </p:txBody>
      </p:sp>
      <p:sp>
        <p:nvSpPr>
          <p:cNvPr id="13" name="Text 11"/>
          <p:cNvSpPr/>
          <p:nvPr/>
        </p:nvSpPr>
        <p:spPr>
          <a:xfrm>
            <a:off x="6322616" y="4366220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Создание представлений (views)</a:t>
            </a:r>
            <a:endParaRPr lang="en-US" sz="1417" dirty="0"/>
          </a:p>
        </p:txBody>
      </p:sp>
      <p:sp>
        <p:nvSpPr>
          <p:cNvPr id="14" name="Text 12"/>
          <p:cNvSpPr/>
          <p:nvPr/>
        </p:nvSpPr>
        <p:spPr>
          <a:xfrm>
            <a:off x="6322616" y="4718248"/>
            <a:ext cx="524381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417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Разделение прав доступа</a:t>
            </a:r>
            <a:endParaRPr lang="en-US" sz="1417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573735" y="1359815"/>
            <a:ext cx="1186928" cy="4278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00"/>
              </a:lnSpc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3609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585</Words>
  <Application>Microsoft Office PowerPoint</Application>
  <PresentationFormat>Широкоэкранный</PresentationFormat>
  <Paragraphs>76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Sora Light</vt:lpstr>
      <vt:lpstr>Sora Semi Bold</vt:lpstr>
      <vt:lpstr>Times New Roman</vt:lpstr>
      <vt:lpstr>Тема Office</vt:lpstr>
      <vt:lpstr>КУРСОВАЯ РАБОТА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student</dc:creator>
  <cp:lastModifiedBy>Мушок _</cp:lastModifiedBy>
  <cp:revision>24</cp:revision>
  <dcterms:created xsi:type="dcterms:W3CDTF">2025-12-20T06:43:30Z</dcterms:created>
  <dcterms:modified xsi:type="dcterms:W3CDTF">2025-12-25T08:52:00Z</dcterms:modified>
</cp:coreProperties>
</file>